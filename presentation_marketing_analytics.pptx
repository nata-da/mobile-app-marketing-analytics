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3" r:id="rId3"/>
    <p:sldId id="264" r:id="rId4"/>
    <p:sldId id="268" r:id="rId5"/>
    <p:sldId id="265" r:id="rId6"/>
    <p:sldId id="266" r:id="rId7"/>
    <p:sldId id="26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20ED1CF-8355-494E-8047-BA1658E7CA1D}" type="datetimeFigureOut">
              <a:rPr lang="ru-UA" smtClean="0"/>
              <a:t>10.09.2026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ru-UA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59BCDECE-8DA1-46BA-A4CB-AD6EFCFCACEE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40672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D1CF-8355-494E-8047-BA1658E7CA1D}" type="datetimeFigureOut">
              <a:rPr lang="ru-UA" smtClean="0"/>
              <a:t>10.09.2026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DECE-8DA1-46BA-A4CB-AD6EFCFCACEE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39405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D1CF-8355-494E-8047-BA1658E7CA1D}" type="datetimeFigureOut">
              <a:rPr lang="ru-UA" smtClean="0"/>
              <a:t>10.09.2026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DECE-8DA1-46BA-A4CB-AD6EFCFCACEE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85114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D1CF-8355-494E-8047-BA1658E7CA1D}" type="datetimeFigureOut">
              <a:rPr lang="ru-UA" smtClean="0"/>
              <a:t>10.09.2026</a:t>
            </a:fld>
            <a:endParaRPr lang="ru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DECE-8DA1-46BA-A4CB-AD6EFCFCACEE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759269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D1CF-8355-494E-8047-BA1658E7CA1D}" type="datetimeFigureOut">
              <a:rPr lang="ru-UA" smtClean="0"/>
              <a:t>10.09.2026</a:t>
            </a:fld>
            <a:endParaRPr lang="ru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DECE-8DA1-46BA-A4CB-AD6EFCFCACEE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801896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D1CF-8355-494E-8047-BA1658E7CA1D}" type="datetimeFigureOut">
              <a:rPr lang="ru-UA" smtClean="0"/>
              <a:t>10.09.2026</a:t>
            </a:fld>
            <a:endParaRPr lang="ru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DECE-8DA1-46BA-A4CB-AD6EFCFCACEE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98108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D1CF-8355-494E-8047-BA1658E7CA1D}" type="datetimeFigureOut">
              <a:rPr lang="ru-UA" smtClean="0"/>
              <a:t>10.09.2026</a:t>
            </a:fld>
            <a:endParaRPr lang="ru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DECE-8DA1-46BA-A4CB-AD6EFCFCACEE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047452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D1CF-8355-494E-8047-BA1658E7CA1D}" type="datetimeFigureOut">
              <a:rPr lang="ru-UA" smtClean="0"/>
              <a:t>10.09.2026</a:t>
            </a:fld>
            <a:endParaRPr lang="ru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DECE-8DA1-46BA-A4CB-AD6EFCFCACEE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465512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D1CF-8355-494E-8047-BA1658E7CA1D}" type="datetimeFigureOut">
              <a:rPr lang="ru-UA" smtClean="0"/>
              <a:t>10.09.2026</a:t>
            </a:fld>
            <a:endParaRPr lang="ru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DECE-8DA1-46BA-A4CB-AD6EFCFCACEE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48192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D1CF-8355-494E-8047-BA1658E7CA1D}" type="datetimeFigureOut">
              <a:rPr lang="ru-UA" smtClean="0"/>
              <a:t>10.09.2026</a:t>
            </a:fld>
            <a:endParaRPr lang="ru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DECE-8DA1-46BA-A4CB-AD6EFCFCACEE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63195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D1CF-8355-494E-8047-BA1658E7CA1D}" type="datetimeFigureOut">
              <a:rPr lang="ru-UA" smtClean="0"/>
              <a:t>10.09.2026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DECE-8DA1-46BA-A4CB-AD6EFCFCACEE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665585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D1CF-8355-494E-8047-BA1658E7CA1D}" type="datetimeFigureOut">
              <a:rPr lang="ru-UA" smtClean="0"/>
              <a:t>10.09.2026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DECE-8DA1-46BA-A4CB-AD6EFCFCACEE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9571924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D1CF-8355-494E-8047-BA1658E7CA1D}" type="datetimeFigureOut">
              <a:rPr lang="ru-UA" smtClean="0"/>
              <a:t>10.09.2026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DECE-8DA1-46BA-A4CB-AD6EFCFCACEE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911468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D1CF-8355-494E-8047-BA1658E7CA1D}" type="datetimeFigureOut">
              <a:rPr lang="ru-UA" smtClean="0"/>
              <a:t>10.09.2026</a:t>
            </a:fld>
            <a:endParaRPr lang="ru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DECE-8DA1-46BA-A4CB-AD6EFCFCACEE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5658961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D1CF-8355-494E-8047-BA1658E7CA1D}" type="datetimeFigureOut">
              <a:rPr lang="ru-UA" smtClean="0"/>
              <a:t>10.09.2026</a:t>
            </a:fld>
            <a:endParaRPr lang="ru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ru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DECE-8DA1-46BA-A4CB-AD6EFCFCACEE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7070569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20ED1CF-8355-494E-8047-BA1658E7CA1D}" type="datetimeFigureOut">
              <a:rPr lang="ru-UA" smtClean="0"/>
              <a:t>10.09.2026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DECE-8DA1-46BA-A4CB-AD6EFCFCACEE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7705081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20ED1CF-8355-494E-8047-BA1658E7CA1D}" type="datetimeFigureOut">
              <a:rPr lang="ru-UA" smtClean="0"/>
              <a:t>10.09.2026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DECE-8DA1-46BA-A4CB-AD6EFCFCACEE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67230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20ED1CF-8355-494E-8047-BA1658E7CA1D}" type="datetimeFigureOut">
              <a:rPr lang="ru-UA" smtClean="0"/>
              <a:t>10.09.2026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ru-UA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59BCDECE-8DA1-46BA-A4CB-AD6EFCFCACEE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977831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A889F-66A3-653B-1371-01030FA6A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419" y="604684"/>
            <a:ext cx="10854813" cy="1268361"/>
          </a:xfrm>
        </p:spPr>
        <p:txBody>
          <a:bodyPr/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та мета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роботи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ефективності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маркетингових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кампаній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мобільного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додатку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оцінка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окупності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трафіку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ROI)”</a:t>
            </a:r>
            <a:endParaRPr lang="ru-UA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18787-B557-B467-163F-EADE458CB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613" y="2330246"/>
            <a:ext cx="11208774" cy="415904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Проблематика</a:t>
            </a: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endParaRPr lang="ru-UA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kumimoji="0" lang="ru-UA" altLang="ru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Залучення</a:t>
            </a:r>
            <a:r>
              <a:rPr kumimoji="0" lang="ru-UA" altLang="ru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користувачів</a:t>
            </a:r>
            <a:r>
              <a:rPr kumimoji="0" lang="ru-UA" altLang="ru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потребує</a:t>
            </a:r>
            <a:r>
              <a:rPr kumimoji="0" lang="ru-UA" altLang="ru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суттєвих</a:t>
            </a:r>
            <a:r>
              <a:rPr kumimoji="0" lang="ru-UA" altLang="ru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інвестицій</a:t>
            </a:r>
            <a:r>
              <a:rPr kumimoji="0" lang="ru-UA" altLang="ru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Без </a:t>
            </a:r>
            <a:r>
              <a:rPr kumimoji="0" lang="ru-UA" altLang="ru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детальної</a:t>
            </a:r>
            <a:r>
              <a:rPr kumimoji="0" lang="ru-UA" altLang="ru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аналітики</a:t>
            </a:r>
            <a:r>
              <a:rPr kumimoji="0" lang="ru-UA" altLang="ru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існує</a:t>
            </a:r>
            <a:r>
              <a:rPr kumimoji="0" lang="ru-UA" altLang="ru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ризик</a:t>
            </a:r>
            <a:r>
              <a:rPr kumimoji="0" lang="ru-UA" altLang="ru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зливу</a:t>
            </a:r>
            <a:r>
              <a:rPr kumimoji="0" lang="ru-UA" altLang="ru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бюджету на </a:t>
            </a:r>
            <a:r>
              <a:rPr kumimoji="0" lang="ru-UA" altLang="ru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неефективні</a:t>
            </a:r>
            <a:r>
              <a:rPr kumimoji="0" lang="ru-UA" altLang="ru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джерела</a:t>
            </a:r>
            <a:r>
              <a:rPr kumimoji="0" lang="ru-UA" altLang="ru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трафіку</a:t>
            </a:r>
            <a:r>
              <a:rPr kumimoji="0" lang="ru-UA" altLang="ru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ru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Мета </a:t>
            </a:r>
            <a:r>
              <a:rPr lang="ru-RU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</a:t>
            </a: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Об'єднати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сирі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дані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єдину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вітрину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розрахувати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ключові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маркетингові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метрики та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побудувати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інтерактивний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прийняття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управлінських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рішень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Період</a:t>
            </a: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дослідження</a:t>
            </a: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Червень – Липень 2026 року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kumimoji="0" lang="ru-UA" altLang="ru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44423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404F1-AD8B-03DE-0781-AB2DED43F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07923"/>
            <a:ext cx="10441858" cy="972709"/>
          </a:xfrm>
        </p:spPr>
        <p:txBody>
          <a:bodyPr/>
          <a:lstStyle/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Попередня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обробка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трансформація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(SQL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U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F826723-4953-D5B5-94F5-5D6697E8E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38" y="4233483"/>
            <a:ext cx="11223523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ru-UA" altLang="ru-UA" sz="24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Архітектура</a:t>
            </a:r>
            <a:r>
              <a:rPr lang="ru-UA" altLang="ru-UA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SQL-</a:t>
            </a:r>
            <a:r>
              <a:rPr lang="ru-UA" altLang="ru-UA" sz="24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запиту</a:t>
            </a:r>
            <a:r>
              <a:rPr lang="ru-UA" altLang="ru-UA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ru-UA" altLang="ru-UA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Використано</a:t>
            </a:r>
            <a:r>
              <a:rPr lang="ru-UA" altLang="ru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CTE (</a:t>
            </a:r>
            <a:r>
              <a:rPr lang="ru-UA" altLang="ru-UA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installs</a:t>
            </a:r>
            <a:r>
              <a:rPr lang="ru-UA" altLang="ru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UA" altLang="ru-UA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costs</a:t>
            </a:r>
            <a:r>
              <a:rPr lang="ru-UA" altLang="ru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UA" altLang="ru-UA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in_app_rev</a:t>
            </a:r>
            <a:r>
              <a:rPr lang="ru-UA" altLang="ru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UA" altLang="ru-UA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ad_rev</a:t>
            </a:r>
            <a:r>
              <a:rPr lang="ru-UA" altLang="ru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UA" altLang="ru-UA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all_keys</a:t>
            </a:r>
            <a:r>
              <a:rPr lang="ru-UA" altLang="ru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ru-UA" altLang="ru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UA" altLang="ru-UA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запобігання</a:t>
            </a:r>
            <a:r>
              <a:rPr lang="ru-UA" altLang="ru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UA" altLang="ru-UA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втраті</a:t>
            </a:r>
            <a:r>
              <a:rPr lang="ru-UA" altLang="ru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UA" altLang="ru-UA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UA" altLang="ru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UA" altLang="ru-UA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застосовано</a:t>
            </a:r>
            <a:r>
              <a:rPr lang="ru-UA" altLang="ru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UNION DISTINCT за </a:t>
            </a:r>
            <a:r>
              <a:rPr lang="ru-UA" altLang="ru-UA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ключем</a:t>
            </a:r>
            <a:r>
              <a:rPr lang="ru-UA" altLang="ru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UA" altLang="ru-UA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event_date</a:t>
            </a:r>
            <a:r>
              <a:rPr lang="ru-UA" altLang="ru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UA" altLang="ru-UA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media_source</a:t>
            </a:r>
            <a:r>
              <a:rPr lang="ru-UA" altLang="ru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UA" altLang="ru-UA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campaign_id</a:t>
            </a:r>
            <a:r>
              <a:rPr lang="ru-UA" altLang="ru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ru-UA" altLang="ru-UA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Об'єднання</a:t>
            </a:r>
            <a:r>
              <a:rPr lang="ru-UA" altLang="ru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UA" altLang="ru-UA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виконано</a:t>
            </a:r>
            <a:r>
              <a:rPr lang="ru-UA" altLang="ru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через LEFT JOIN.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UA" altLang="ru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0D6B336-4B39-6554-814C-8E60E7433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38" y="2199792"/>
            <a:ext cx="11223523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UA" altLang="ru-UA" sz="240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Виявлення</a:t>
            </a:r>
            <a:r>
              <a:rPr kumimoji="0" lang="ru-UA" altLang="ru-UA" sz="240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40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аномалій</a:t>
            </a:r>
            <a:r>
              <a:rPr kumimoji="0" lang="ru-UA" altLang="ru-UA" sz="240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kumimoji="0" lang="ru-UA" altLang="ru-UA" sz="240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сирих</a:t>
            </a:r>
            <a:r>
              <a:rPr kumimoji="0" lang="ru-UA" altLang="ru-UA" sz="240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40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kumimoji="0" lang="ru-UA" altLang="ru-UA" sz="240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ru-UA" altLang="ru-UA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kumimoji="0" lang="ru-UA" altLang="ru-UA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таблиці</a:t>
            </a:r>
            <a:r>
              <a:rPr kumimoji="0" lang="ru-UA" altLang="ru-UA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установок поле </a:t>
            </a:r>
            <a:r>
              <a:rPr kumimoji="0" lang="ru-UA" altLang="ru-UA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analytics_installation_id</a:t>
            </a:r>
            <a:r>
              <a:rPr kumimoji="0" lang="ru-UA" altLang="ru-UA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містило</a:t>
            </a:r>
            <a:r>
              <a:rPr kumimoji="0" lang="ru-UA" altLang="ru-UA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100% </a:t>
            </a:r>
            <a:r>
              <a:rPr kumimoji="0" lang="ru-UA" altLang="ru-UA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порожніх</a:t>
            </a:r>
            <a:r>
              <a:rPr kumimoji="0" lang="ru-UA" altLang="ru-UA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значень</a:t>
            </a:r>
            <a:r>
              <a:rPr kumimoji="0" lang="ru-UA" altLang="ru-UA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(NULL).</a:t>
            </a:r>
            <a:r>
              <a:rPr lang="en-US" altLang="ru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ru-UA" altLang="ru-UA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Знайдено</a:t>
            </a:r>
            <a:r>
              <a:rPr kumimoji="0" lang="ru-UA" altLang="ru-UA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kumimoji="0" lang="ru-UA" altLang="ru-UA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використано</a:t>
            </a:r>
            <a:r>
              <a:rPr kumimoji="0" lang="ru-UA" altLang="ru-UA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альтернативний</a:t>
            </a:r>
            <a:r>
              <a:rPr kumimoji="0" lang="ru-UA" altLang="ru-UA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унікальний</a:t>
            </a:r>
            <a:r>
              <a:rPr kumimoji="0" lang="ru-UA" altLang="ru-UA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ідентифікатор</a:t>
            </a:r>
            <a:r>
              <a:rPr kumimoji="0" lang="ru-UA" altLang="ru-UA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ru-UA" altLang="ru-UA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firebase_analytic_app_id</a:t>
            </a:r>
            <a:r>
              <a:rPr kumimoji="0" lang="ru-UA" altLang="ru-UA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(100% </a:t>
            </a:r>
            <a:r>
              <a:rPr kumimoji="0" lang="ru-UA" altLang="ru-UA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покриття</a:t>
            </a:r>
            <a:r>
              <a:rPr kumimoji="0" lang="ru-UA" altLang="ru-UA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UA" altLang="ru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233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3691A-71EB-791B-BFAB-D712B5CC6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129" y="737420"/>
            <a:ext cx="9409471" cy="929148"/>
          </a:xfrm>
        </p:spPr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Інтерактивний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endParaRPr lang="ru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screenshot of a data analysis&#10;&#10;AI-generated content may be incorrect.">
            <a:extLst>
              <a:ext uri="{FF2B5EF4-FFF2-40B4-BE49-F238E27FC236}">
                <a16:creationId xmlns:a16="http://schemas.microsoft.com/office/drawing/2014/main" id="{4AB973F6-53A1-45B7-F9E2-73891B04A7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819" y="2256503"/>
            <a:ext cx="8539315" cy="420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29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54DDE-8A4B-EE33-F238-6119567D3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2" y="766916"/>
            <a:ext cx="10441858" cy="958645"/>
          </a:xfrm>
        </p:spPr>
        <p:txBody>
          <a:bodyPr/>
          <a:lstStyle/>
          <a:p>
            <a:r>
              <a:rPr lang="ru-UA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Перевірка</a:t>
            </a:r>
            <a:r>
              <a:rPr lang="ru-UA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 </a:t>
            </a:r>
            <a:r>
              <a:rPr lang="ru-UA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валідація</a:t>
            </a:r>
            <a:r>
              <a:rPr lang="ru-UA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UA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даних</a:t>
            </a:r>
            <a:r>
              <a:rPr lang="ru-UA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uk-UA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 </a:t>
            </a:r>
            <a:r>
              <a:rPr lang="ru-UA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Python/</a:t>
            </a:r>
            <a:r>
              <a:rPr lang="ru-UA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Colab</a:t>
            </a:r>
            <a:br>
              <a:rPr lang="ru-UA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ru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EF8B3A-5B3D-A92E-C159-58AC94FEA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697" y="2324276"/>
            <a:ext cx="11179277" cy="41060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7020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32FC6-F390-1E6A-2AF9-8888C9813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Головні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інсайти</a:t>
            </a:r>
            <a:endParaRPr lang="ru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A4863-FEEE-95BC-4805-F56644AF0E94}"/>
              </a:ext>
            </a:extLst>
          </p:cNvPr>
          <p:cNvSpPr txBox="1"/>
          <p:nvPr/>
        </p:nvSpPr>
        <p:spPr>
          <a:xfrm>
            <a:off x="491276" y="2311382"/>
            <a:ext cx="11233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Підсумкові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фінансові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показники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800" b="1" i="0" dirty="0">
                <a:solidFill>
                  <a:srgbClr val="0F1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(Червень</a:t>
            </a:r>
            <a:r>
              <a:rPr lang="en-US" sz="2800" b="1" i="0" dirty="0">
                <a:solidFill>
                  <a:srgbClr val="0F1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0" dirty="0">
                <a:solidFill>
                  <a:srgbClr val="0F1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b="1" i="0" dirty="0">
                <a:solidFill>
                  <a:srgbClr val="0F1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0" dirty="0">
                <a:solidFill>
                  <a:srgbClr val="0F1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Липень</a:t>
            </a:r>
            <a:r>
              <a:rPr lang="en-US" sz="2800" b="1" i="0" dirty="0">
                <a:solidFill>
                  <a:srgbClr val="0F1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2026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UA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4C692E1-3670-0068-5AA7-8363B3921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276" y="2967337"/>
            <a:ext cx="1123369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ru-RU" sz="24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Загальні</a:t>
            </a:r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Установки (</a:t>
            </a:r>
            <a:r>
              <a:rPr lang="ru-RU" sz="24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Installs</a:t>
            </a:r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 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328,578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залучених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користувачів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ru-UA" altLang="ru-UA" sz="24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Маркетингові</a:t>
            </a:r>
            <a:r>
              <a:rPr lang="ru-UA" altLang="ru-UA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UA" altLang="ru-UA" sz="24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витрати</a:t>
            </a:r>
            <a:r>
              <a:rPr lang="ru-UA" altLang="ru-UA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(Cost): </a:t>
            </a:r>
            <a:r>
              <a:rPr lang="ru-UA" altLang="ru-U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$19,931.07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ru-UA" altLang="ru-UA" sz="24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Загальний</a:t>
            </a:r>
            <a:r>
              <a:rPr lang="ru-UA" altLang="ru-UA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UA" altLang="ru-UA" sz="24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дохід</a:t>
            </a:r>
            <a:r>
              <a:rPr lang="ru-UA" altLang="ru-UA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(Total </a:t>
            </a:r>
            <a:r>
              <a:rPr lang="ru-UA" altLang="ru-UA" sz="24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lang="ru-UA" altLang="ru-UA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ru-UA" altLang="ru-U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$26,480.29 </a:t>
            </a:r>
            <a:r>
              <a:rPr lang="ru-UA" altLang="ru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(IAP + Ad)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ru-UA" altLang="ru-UA" sz="24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Чистий</a:t>
            </a:r>
            <a:r>
              <a:rPr lang="ru-UA" altLang="ru-UA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UA" altLang="ru-UA" sz="24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прибуток</a:t>
            </a:r>
            <a:r>
              <a:rPr lang="ru-UA" altLang="ru-UA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(Net </a:t>
            </a:r>
            <a:r>
              <a:rPr lang="ru-UA" altLang="ru-UA" sz="24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  <a:r>
              <a:rPr lang="ru-UA" altLang="ru-UA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ru-UA" altLang="ru-U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$6,549.21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ru-UA" altLang="ru-UA" sz="24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Загальний</a:t>
            </a:r>
            <a:r>
              <a:rPr lang="ru-UA" altLang="ru-UA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ROI: </a:t>
            </a:r>
            <a:r>
              <a:rPr lang="ru-UA" altLang="ru-U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32.86</a:t>
            </a:r>
            <a:endParaRPr lang="ru-UA" altLang="ru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ru-UA" altLang="ru-UA" sz="24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Аналіз</a:t>
            </a:r>
            <a:r>
              <a:rPr lang="ru-UA" altLang="ru-UA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UA" altLang="ru-UA" sz="24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трендів</a:t>
            </a:r>
            <a:r>
              <a:rPr lang="ru-UA" altLang="ru-UA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uk-UA" altLang="ru-UA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UA" altLang="ru-UA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Графік</a:t>
            </a:r>
            <a:r>
              <a:rPr kumimoji="0" lang="ru-UA" altLang="ru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демонструє</a:t>
            </a:r>
            <a:r>
              <a:rPr kumimoji="0" lang="ru-UA" altLang="ru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стабільну</a:t>
            </a:r>
            <a:r>
              <a:rPr kumimoji="0" lang="ru-UA" altLang="ru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позитивну</a:t>
            </a:r>
            <a:r>
              <a:rPr kumimoji="0" lang="ru-UA" altLang="ru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окупність</a:t>
            </a:r>
            <a:r>
              <a:rPr kumimoji="0" lang="ru-UA" altLang="ru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із</a:t>
            </a:r>
            <a:r>
              <a:rPr kumimoji="0" lang="ru-UA" altLang="ru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вираженими</a:t>
            </a:r>
            <a:r>
              <a:rPr kumimoji="0" lang="ru-UA" altLang="ru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піками</a:t>
            </a:r>
            <a:r>
              <a:rPr kumimoji="0" lang="ru-UA" altLang="ru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ROI у </a:t>
            </a:r>
            <a:r>
              <a:rPr kumimoji="0" lang="ru-UA" altLang="ru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середині</a:t>
            </a:r>
            <a:r>
              <a:rPr kumimoji="0" lang="ru-UA" altLang="ru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червня.</a:t>
            </a:r>
          </a:p>
        </p:txBody>
      </p:sp>
    </p:spTree>
    <p:extLst>
      <p:ext uri="{BB962C8B-B14F-4D97-AF65-F5344CB8AC3E}">
        <p14:creationId xmlns:p14="http://schemas.microsoft.com/office/powerpoint/2010/main" val="3454384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8E03F-71C7-B492-0DCB-421F25E9C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950581" cy="706964"/>
          </a:xfrm>
        </p:spPr>
        <p:txBody>
          <a:bodyPr/>
          <a:lstStyle/>
          <a:p>
            <a:pPr algn="l"/>
            <a:r>
              <a:rPr lang="ru-RU" b="1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Висновки</a:t>
            </a:r>
            <a:r>
              <a:rPr lang="ru-RU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b="1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Рекомендації</a:t>
            </a:r>
            <a:r>
              <a:rPr lang="ru-RU" b="1" i="0" dirty="0">
                <a:solidFill>
                  <a:srgbClr val="0F1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b="1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Бізнесу</a:t>
            </a:r>
            <a:endParaRPr lang="ru-RU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AC3BBE8-0201-DB77-0993-F8EAF464E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149" y="3704873"/>
            <a:ext cx="1123581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Практичні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Рекомендації</a:t>
            </a:r>
            <a:endParaRPr lang="en-US" altLang="ru-UA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ru-UA" altLang="ru-UA" sz="2000" b="1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Масштабування</a:t>
            </a:r>
            <a:r>
              <a:rPr kumimoji="0" lang="ru-UA" altLang="ru-UA" sz="2000" b="1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ru-UA" altLang="ru-UA" sz="2000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ru-UA" sz="2000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UA" altLang="ru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Збільшити</a:t>
            </a:r>
            <a:r>
              <a:rPr kumimoji="0" lang="ru-UA" altLang="ru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бюджет на </a:t>
            </a:r>
            <a:r>
              <a:rPr kumimoji="0" lang="ru-UA" altLang="ru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кампанії</a:t>
            </a:r>
            <a:r>
              <a:rPr kumimoji="0" lang="ru-UA" altLang="ru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kumimoji="0" lang="ru-UA" altLang="ru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високою</a:t>
            </a:r>
            <a:r>
              <a:rPr kumimoji="0" lang="ru-UA" altLang="ru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маржинальністю</a:t>
            </a:r>
            <a:r>
              <a:rPr kumimoji="0" lang="ru-UA" altLang="ru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(ROI &gt; 35%).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ru-UA" altLang="ru-UA" sz="20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Оптимізація</a:t>
            </a:r>
            <a:r>
              <a:rPr kumimoji="0" lang="ru-UA" altLang="ru-UA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endParaRPr kumimoji="0" lang="en-US" altLang="ru-UA" sz="2000" b="1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UA" altLang="ru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аудит </a:t>
            </a:r>
            <a:r>
              <a:rPr lang="ru-UA" altLang="ru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UA" altLang="ru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UA" altLang="ru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зупинити</a:t>
            </a:r>
            <a:r>
              <a:rPr lang="ru-UA" altLang="ru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UA" altLang="ru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кампанії</a:t>
            </a:r>
            <a:r>
              <a:rPr lang="ru-UA" altLang="ru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UA" altLang="ru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які</a:t>
            </a:r>
            <a:r>
              <a:rPr lang="ru-UA" altLang="ru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UA" altLang="ru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працюють</a:t>
            </a:r>
            <a:r>
              <a:rPr lang="ru-UA" altLang="ru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UA" altLang="ru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межі</a:t>
            </a:r>
            <a:r>
              <a:rPr lang="ru-UA" altLang="ru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UA" altLang="ru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окупності</a:t>
            </a:r>
            <a:r>
              <a:rPr lang="ru-UA" altLang="ru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(ROI &lt; 5%).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ru-UA" altLang="ru-UA" sz="20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Моніторинг</a:t>
            </a:r>
            <a:r>
              <a:rPr lang="ru-UA" altLang="ru-UA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altLang="ru-UA" sz="20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UA" altLang="ru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Використовувати</a:t>
            </a:r>
            <a:r>
              <a:rPr lang="ru-UA" altLang="ru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UA" altLang="ru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створений</a:t>
            </a:r>
            <a:r>
              <a:rPr lang="ru-UA" altLang="ru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UA" altLang="ru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</a:t>
            </a:r>
            <a:r>
              <a:rPr lang="ru-UA" altLang="ru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як </a:t>
            </a:r>
            <a:r>
              <a:rPr lang="ru-UA" altLang="ru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оперативний</a:t>
            </a:r>
            <a:r>
              <a:rPr lang="ru-UA" altLang="ru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UA" altLang="ru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інструмент</a:t>
            </a:r>
            <a:r>
              <a:rPr lang="ru-UA" altLang="ru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UA" altLang="ru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щоденного</a:t>
            </a:r>
            <a:r>
              <a:rPr lang="ru-UA" altLang="ru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контролю </a:t>
            </a:r>
            <a:r>
              <a:rPr lang="ru-UA" altLang="ru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маркетингових</a:t>
            </a:r>
            <a:r>
              <a:rPr lang="ru-UA" altLang="ru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UA" altLang="ru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витрат</a:t>
            </a:r>
            <a:r>
              <a:rPr lang="ru-UA" altLang="ru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57EC77-EED2-1B65-AED0-EC20E36015CF}"/>
              </a:ext>
            </a:extLst>
          </p:cNvPr>
          <p:cNvSpPr txBox="1"/>
          <p:nvPr/>
        </p:nvSpPr>
        <p:spPr>
          <a:xfrm>
            <a:off x="548148" y="2381434"/>
            <a:ext cx="112358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i="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Аналітичні</a:t>
            </a:r>
            <a:r>
              <a:rPr lang="ru-RU" sz="2000" b="1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i="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Висновки</a:t>
            </a:r>
            <a:endParaRPr lang="en-US" sz="2000" b="1" i="0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Маркетингові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кампанії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досліджуваний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період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є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рентабельними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uk-UA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lang="ru-RU" sz="20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агальний</a:t>
            </a:r>
            <a:r>
              <a:rPr lang="ru-RU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прибуток</a:t>
            </a:r>
            <a:r>
              <a:rPr lang="ru-RU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$6,549.21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ru-RU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ROI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32.86%).</a:t>
            </a:r>
          </a:p>
        </p:txBody>
      </p:sp>
    </p:spTree>
    <p:extLst>
      <p:ext uri="{BB962C8B-B14F-4D97-AF65-F5344CB8AC3E}">
        <p14:creationId xmlns:p14="http://schemas.microsoft.com/office/powerpoint/2010/main" val="3685840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131CB-91BA-4E6A-1EA6-3F79012EF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1813772"/>
            <a:ext cx="10958052" cy="1327634"/>
          </a:xfrm>
        </p:spPr>
        <p:txBody>
          <a:bodyPr>
            <a:noAutofit/>
          </a:bodyPr>
          <a:lstStyle/>
          <a:p>
            <a:pPr algn="ctr"/>
            <a:r>
              <a:rPr lang="uk-UA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Дякую за увагу</a:t>
            </a:r>
            <a:r>
              <a:rPr lang="en-US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u-UA" sz="9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F35AE6-09BC-25BF-3489-7311BEE55724}"/>
              </a:ext>
            </a:extLst>
          </p:cNvPr>
          <p:cNvSpPr txBox="1"/>
          <p:nvPr/>
        </p:nvSpPr>
        <p:spPr>
          <a:xfrm>
            <a:off x="648929" y="5766307"/>
            <a:ext cx="94832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A" sz="2000" b="1" kern="100" dirty="0" err="1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Курсова</a:t>
            </a:r>
            <a:r>
              <a:rPr lang="ru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b="1" kern="1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н</a:t>
            </a:r>
            <a:r>
              <a:rPr lang="ru-RU" sz="2000" b="1" kern="1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а </a:t>
            </a:r>
            <a:r>
              <a:rPr lang="ru-RU" sz="2000" b="1" kern="100" dirty="0" err="1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основі</a:t>
            </a:r>
            <a:r>
              <a:rPr lang="ru-RU" sz="2000" b="1" kern="1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ru-RU" sz="2000" b="1" kern="100" dirty="0" err="1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даних</a:t>
            </a:r>
            <a:r>
              <a:rPr lang="ru-RU" sz="2000" b="1" kern="1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2000" b="1" kern="100" dirty="0" err="1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Mornhouse</a:t>
            </a:r>
            <a:r>
              <a:rPr lang="en-US" sz="2000" b="1" kern="1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IT</a:t>
            </a:r>
            <a:endParaRPr lang="ru-UA" sz="2000" b="1" kern="100" dirty="0">
              <a:solidFill>
                <a:schemeClr val="bg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1456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96</TotalTime>
  <Words>350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Century Gothic</vt:lpstr>
      <vt:lpstr>Times New Roman</vt:lpstr>
      <vt:lpstr>Wingdings</vt:lpstr>
      <vt:lpstr>Wingdings 3</vt:lpstr>
      <vt:lpstr>Ion Boardroom</vt:lpstr>
      <vt:lpstr>Тема та мета курсової роботи: “Аналіз ефективності маркетингових кампаній мобільного додатку та оцінка окупності трафіку (ROI)”</vt:lpstr>
      <vt:lpstr>Попередня обробка та трансформація даних (SQL Pipeline)</vt:lpstr>
      <vt:lpstr>Інтерактивний дашборд у Power BI</vt:lpstr>
      <vt:lpstr>Перевірка та валідація даних у Python/Colab </vt:lpstr>
      <vt:lpstr>Головні результати та інсайти</vt:lpstr>
      <vt:lpstr>Висновки та Рекомендації для Бізнесу</vt:lpstr>
      <vt:lpstr>Дякую за увагу!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Наталья Перепелица</dc:creator>
  <cp:lastModifiedBy>Наталья Перепелица</cp:lastModifiedBy>
  <cp:revision>5</cp:revision>
  <dcterms:created xsi:type="dcterms:W3CDTF">2026-09-07T18:27:08Z</dcterms:created>
  <dcterms:modified xsi:type="dcterms:W3CDTF">2026-09-10T20:33:35Z</dcterms:modified>
</cp:coreProperties>
</file>